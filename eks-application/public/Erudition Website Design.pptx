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58" r:id="rId4"/>
    <p:sldId id="259" r:id="rId5"/>
    <p:sldId id="262" r:id="rId6"/>
    <p:sldId id="265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B"/>
    <a:srgbClr val="0066CC"/>
    <a:srgbClr val="336699"/>
    <a:srgbClr val="000099"/>
    <a:srgbClr val="0033CC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4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BC86E3-2844-4FC3-97EC-3B94814621B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C8413-051D-4284-9B49-C6F9D4147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7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C8413-051D-4284-9B49-C6F9D4147E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83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1C8D2-2510-10FA-8106-1E0FE9F20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1B471-8FAA-3B35-7913-7423486EB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B665D-A27B-AC8D-70F8-6210B476C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BE20-C295-4483-BF22-D91111A6A70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96C0A-F781-8586-8C67-6D87EBE69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5894F-5747-5860-0442-4751705FE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44AB-88F6-468C-9D6D-1F416C3F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7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02ADF-B24F-3843-D5DA-CC3FA70A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15EC2-2D14-7FC1-EBE1-3BAC27D92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44631-41B8-DA4C-4656-F8A88D10C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BE20-C295-4483-BF22-D91111A6A70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23D09-1080-773A-8949-CC16F7923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E186B-5DCC-673C-EB3C-94205A78D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44AB-88F6-468C-9D6D-1F416C3F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9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944DC-A63A-8B55-5B24-BF7EE3BE9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A37A3-86D2-58FB-1993-6EF633973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151D7-2EDA-BCB4-CAE3-3A57A2433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BE20-C295-4483-BF22-D91111A6A70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53E80-A841-2016-EEB8-D43FE7082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34C84-9919-060F-02C9-8F6678D45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44AB-88F6-468C-9D6D-1F416C3F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9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2AB29-C22A-0B3A-F977-BC7B91814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FBD9D-161E-6BAC-F766-AFF6F253E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92599-2BAC-247E-8001-268B204F3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923B8-C280-27B8-1246-F9EFC375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BE20-C295-4483-BF22-D91111A6A70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31DAC-7606-4D1A-C929-EFA0A944F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ED423-CEFD-5E7E-9799-B870DF3A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44AB-88F6-468C-9D6D-1F416C3F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23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8E00F-EE74-09B9-D2BA-B1E69273B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3DB8D-73F6-11B9-6FAD-AF1652060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278FB-DAD7-9134-83D2-315C4C266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87D666-05D4-BC26-CDD1-D52D8CD0A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CC36D1-3E7F-F7DF-B7E8-564627BD3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7BB7FF-1F65-146E-525B-D6C58A08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BE20-C295-4483-BF22-D91111A6A70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E9C78C-6AC9-3CE3-AD3C-E7A760666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DB089-80ED-0EBA-97CE-85806A6D3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44AB-88F6-468C-9D6D-1F416C3F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41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2A314-165F-A62D-485D-119F89323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42FD1-8830-D7DF-818B-42840169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BE20-C295-4483-BF22-D91111A6A70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9D8D9C-48A8-E5D0-EF82-FB770DC2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56DA2-ADE4-77A4-8DAD-74FB74DE6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44AB-88F6-468C-9D6D-1F416C3F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77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A1E4B2-04B8-6C78-09DA-51FA86E71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BE20-C295-4483-BF22-D91111A6A70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ADD2CD-E4B8-9198-D7C8-4634B7A08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A5E71-55E5-61F4-C24F-F158F768C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44AB-88F6-468C-9D6D-1F416C3F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97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70244-9A81-FE66-0A5D-5E2B4DED8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05220-6DCA-2177-ABDE-07DB49F7E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839E9-F750-781C-453A-8AA20EB1B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97D8B-6F57-53FC-DA3A-F69945245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BE20-C295-4483-BF22-D91111A6A70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34FAC-78C2-E2AC-AEF5-E3636BF6F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A327C-3AF8-459C-7D72-BF30ABFE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44AB-88F6-468C-9D6D-1F416C3F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1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22C9E-D380-2BFD-8CA5-CCE25D64D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0A65F-C564-CAC0-BFAC-EA6B6FE9FB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D4B71-34A7-3F67-E093-1C3FE30E3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B0D14-340F-C93E-621F-C34064543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BE20-C295-4483-BF22-D91111A6A70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47A36-A2D4-E23B-8ADF-267C1EBD9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0EE6B-7185-A7D2-A3FD-591598056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44AB-88F6-468C-9D6D-1F416C3F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49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3FD74-BB09-7A0E-6163-D51469097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A763C6-D014-A811-FB50-FBEAC3756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E0623-2D2A-D8A5-8CCC-6E57972F1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BE20-C295-4483-BF22-D91111A6A70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B2026-8676-F8DC-B0E4-97A94FC1A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12C97-E697-1E7D-AD9D-E73A3844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44AB-88F6-468C-9D6D-1F416C3F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53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6952B9-A04C-E460-4500-245B4FDEF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91D11-6936-1F20-9207-860D5BBBE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C29BF-37A6-C7BC-04F3-F5F8F2594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BE20-C295-4483-BF22-D91111A6A70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E9A7F-BA60-412E-9E13-A9A546034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165EF-FB5D-1AD8-66DB-78C31328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44AB-88F6-468C-9D6D-1F416C3F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479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4">
                <a:lumMod val="40000"/>
                <a:lumOff val="60000"/>
              </a:schemeClr>
            </a:gs>
            <a:gs pos="35000">
              <a:schemeClr val="accent4">
                <a:lumMod val="68000"/>
              </a:schemeClr>
            </a:gs>
            <a:gs pos="92000">
              <a:schemeClr val="accent4">
                <a:lumMod val="60000"/>
              </a:schemeClr>
            </a:gs>
          </a:gsLst>
          <a:path path="circle">
            <a:fillToRect l="100000" t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F509B-3C2A-CC02-A061-C77543B2A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71D02-4C57-992D-E66F-D4F3E6D21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A650C-D408-000D-3A2A-C94A5CBEE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4BE20-C295-4483-BF22-D91111A6A70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3E49A-A849-C1BC-C09D-0FAE6F066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1B66A-B558-3034-492C-942C3217A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CF44AB-88F6-468C-9D6D-1F416C3F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7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FF215A-A581-9020-ED87-C49BA08EB980}"/>
              </a:ext>
            </a:extLst>
          </p:cNvPr>
          <p:cNvSpPr/>
          <p:nvPr/>
        </p:nvSpPr>
        <p:spPr>
          <a:xfrm>
            <a:off x="0" y="0"/>
            <a:ext cx="12192000" cy="74022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636AE3-5A6B-EE5A-834D-F143DEA0F036}"/>
              </a:ext>
            </a:extLst>
          </p:cNvPr>
          <p:cNvSpPr txBox="1"/>
          <p:nvPr/>
        </p:nvSpPr>
        <p:spPr>
          <a:xfrm>
            <a:off x="704332" y="95425"/>
            <a:ext cx="21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Erudition Solutions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2E215-6ECF-32DA-1845-65B9308AED4E}"/>
              </a:ext>
            </a:extLst>
          </p:cNvPr>
          <p:cNvSpPr txBox="1"/>
          <p:nvPr/>
        </p:nvSpPr>
        <p:spPr>
          <a:xfrm>
            <a:off x="728826" y="385778"/>
            <a:ext cx="594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Teacher-Designed Student-Centered Testing Platform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EDEF1F-8CEA-9299-59DA-642BADB2F7F4}"/>
              </a:ext>
            </a:extLst>
          </p:cNvPr>
          <p:cNvSpPr txBox="1"/>
          <p:nvPr/>
        </p:nvSpPr>
        <p:spPr>
          <a:xfrm>
            <a:off x="6945086" y="389615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bg1">
                    <a:lumMod val="95000"/>
                  </a:schemeClr>
                </a:solidFill>
              </a:rPr>
              <a:t>Home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B0C16-B6F1-0D9A-98EF-5886040E6B96}"/>
              </a:ext>
            </a:extLst>
          </p:cNvPr>
          <p:cNvSpPr txBox="1"/>
          <p:nvPr/>
        </p:nvSpPr>
        <p:spPr>
          <a:xfrm>
            <a:off x="7841471" y="39462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Products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810623-9247-3885-1C89-1D43705129C1}"/>
              </a:ext>
            </a:extLst>
          </p:cNvPr>
          <p:cNvSpPr txBox="1"/>
          <p:nvPr/>
        </p:nvSpPr>
        <p:spPr>
          <a:xfrm>
            <a:off x="8889872" y="388284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Support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CBBB81-C86B-FCA6-8EA4-6B1CCED1C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" y="61003"/>
            <a:ext cx="624894" cy="571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0D3736-1D53-A516-CC54-FC9482EFA1F0}"/>
              </a:ext>
            </a:extLst>
          </p:cNvPr>
          <p:cNvSpPr txBox="1"/>
          <p:nvPr/>
        </p:nvSpPr>
        <p:spPr>
          <a:xfrm>
            <a:off x="2601686" y="1087007"/>
            <a:ext cx="533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</a:rPr>
              <a:t>Making Test-Making Stress Free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92C400-59B9-D6B9-C175-0A885F53288D}"/>
              </a:ext>
            </a:extLst>
          </p:cNvPr>
          <p:cNvSpPr txBox="1"/>
          <p:nvPr/>
        </p:nvSpPr>
        <p:spPr>
          <a:xfrm>
            <a:off x="2619701" y="2878685"/>
            <a:ext cx="62701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Erudition is a testing platform that is fully designed by experienced teachers by incorporating student’s and teacher’s feedback.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083283A-32E3-8C08-2E0F-AA7449253161}"/>
              </a:ext>
            </a:extLst>
          </p:cNvPr>
          <p:cNvSpPr/>
          <p:nvPr/>
        </p:nvSpPr>
        <p:spPr>
          <a:xfrm>
            <a:off x="4016830" y="5205261"/>
            <a:ext cx="1828799" cy="55541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96AE67-80C0-2186-9AB0-2D6EBE65F5DF}"/>
              </a:ext>
            </a:extLst>
          </p:cNvPr>
          <p:cNvSpPr txBox="1"/>
          <p:nvPr/>
        </p:nvSpPr>
        <p:spPr>
          <a:xfrm>
            <a:off x="4114800" y="52983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Request Demo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25B060F-383C-C4E0-3BB7-04361AA406E1}"/>
              </a:ext>
            </a:extLst>
          </p:cNvPr>
          <p:cNvSpPr/>
          <p:nvPr/>
        </p:nvSpPr>
        <p:spPr>
          <a:xfrm>
            <a:off x="6672426" y="5168997"/>
            <a:ext cx="1828799" cy="55541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E2149A-7FB9-ACCD-0454-08B559E22866}"/>
              </a:ext>
            </a:extLst>
          </p:cNvPr>
          <p:cNvSpPr txBox="1"/>
          <p:nvPr/>
        </p:nvSpPr>
        <p:spPr>
          <a:xfrm>
            <a:off x="6770396" y="5262036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Learn More . . 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097055-14BA-2864-4631-5A438A35EA38}"/>
              </a:ext>
            </a:extLst>
          </p:cNvPr>
          <p:cNvSpPr txBox="1"/>
          <p:nvPr/>
        </p:nvSpPr>
        <p:spPr>
          <a:xfrm>
            <a:off x="10986922" y="368549"/>
            <a:ext cx="1284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Contact Us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AC6BCC-785A-25C4-9FC0-8EDF50A2B00E}"/>
              </a:ext>
            </a:extLst>
          </p:cNvPr>
          <p:cNvSpPr txBox="1"/>
          <p:nvPr/>
        </p:nvSpPr>
        <p:spPr>
          <a:xfrm>
            <a:off x="9786257" y="374892"/>
            <a:ext cx="1226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Subscription</a:t>
            </a:r>
          </a:p>
        </p:txBody>
      </p:sp>
    </p:spTree>
    <p:extLst>
      <p:ext uri="{BB962C8B-B14F-4D97-AF65-F5344CB8AC3E}">
        <p14:creationId xmlns:p14="http://schemas.microsoft.com/office/powerpoint/2010/main" val="284205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20C4A-887C-06BA-E753-5F5EF3652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BFAB45-E9BF-FE97-C95E-4216DCD40FED}"/>
              </a:ext>
            </a:extLst>
          </p:cNvPr>
          <p:cNvSpPr/>
          <p:nvPr/>
        </p:nvSpPr>
        <p:spPr>
          <a:xfrm>
            <a:off x="0" y="0"/>
            <a:ext cx="12192000" cy="74022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B1B5F0-0DDC-3869-8584-6D604953F6C7}"/>
              </a:ext>
            </a:extLst>
          </p:cNvPr>
          <p:cNvSpPr txBox="1"/>
          <p:nvPr/>
        </p:nvSpPr>
        <p:spPr>
          <a:xfrm>
            <a:off x="704332" y="95425"/>
            <a:ext cx="21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Erudition Solutions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F2BC07-7AFE-E30E-C624-751648CFF8CC}"/>
              </a:ext>
            </a:extLst>
          </p:cNvPr>
          <p:cNvSpPr txBox="1"/>
          <p:nvPr/>
        </p:nvSpPr>
        <p:spPr>
          <a:xfrm>
            <a:off x="728826" y="385778"/>
            <a:ext cx="594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Teacher-Designed Student-Centered Testing Platform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A98394-2D9B-0831-E2E9-D7A1AC1F1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" y="61003"/>
            <a:ext cx="624894" cy="57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E75FEB-8519-8D0A-0F32-0DCCFF966A18}"/>
              </a:ext>
            </a:extLst>
          </p:cNvPr>
          <p:cNvSpPr txBox="1"/>
          <p:nvPr/>
        </p:nvSpPr>
        <p:spPr>
          <a:xfrm>
            <a:off x="7841471" y="39462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Products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675DA4-8DF6-A04A-A1F5-248C39D20EF6}"/>
              </a:ext>
            </a:extLst>
          </p:cNvPr>
          <p:cNvSpPr txBox="1"/>
          <p:nvPr/>
        </p:nvSpPr>
        <p:spPr>
          <a:xfrm>
            <a:off x="8889872" y="388284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Support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9F595BD-0B85-761E-0DF0-BF027F26862F}"/>
              </a:ext>
            </a:extLst>
          </p:cNvPr>
          <p:cNvSpPr/>
          <p:nvPr/>
        </p:nvSpPr>
        <p:spPr>
          <a:xfrm>
            <a:off x="533400" y="1348337"/>
            <a:ext cx="3569482" cy="396538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0060B-A3FE-7865-F096-97CED640D1D4}"/>
              </a:ext>
            </a:extLst>
          </p:cNvPr>
          <p:cNvSpPr txBox="1"/>
          <p:nvPr/>
        </p:nvSpPr>
        <p:spPr>
          <a:xfrm>
            <a:off x="827314" y="1589785"/>
            <a:ext cx="287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Dashboard Integration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95860C6-4AD8-189D-8113-502A0FDD63D4}"/>
              </a:ext>
            </a:extLst>
          </p:cNvPr>
          <p:cNvSpPr/>
          <p:nvPr/>
        </p:nvSpPr>
        <p:spPr>
          <a:xfrm>
            <a:off x="4508892" y="1348337"/>
            <a:ext cx="3178628" cy="396538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2C153F-CD35-691A-5B01-B6886FE8D254}"/>
              </a:ext>
            </a:extLst>
          </p:cNvPr>
          <p:cNvSpPr txBox="1"/>
          <p:nvPr/>
        </p:nvSpPr>
        <p:spPr>
          <a:xfrm>
            <a:off x="4708657" y="1544283"/>
            <a:ext cx="2543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Progress Monitoring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2D1D41B-CF64-3443-ED24-300658CA0D0B}"/>
              </a:ext>
            </a:extLst>
          </p:cNvPr>
          <p:cNvSpPr/>
          <p:nvPr/>
        </p:nvSpPr>
        <p:spPr>
          <a:xfrm>
            <a:off x="8186058" y="1348337"/>
            <a:ext cx="3178628" cy="396538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4E91F6-6BCE-2442-2744-BB0CCD2B9848}"/>
              </a:ext>
            </a:extLst>
          </p:cNvPr>
          <p:cNvSpPr txBox="1"/>
          <p:nvPr/>
        </p:nvSpPr>
        <p:spPr>
          <a:xfrm>
            <a:off x="8392747" y="1531909"/>
            <a:ext cx="2381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Teacher-Created Content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0ACE45-7582-3BDB-24A4-C38C01A0EC6D}"/>
              </a:ext>
            </a:extLst>
          </p:cNvPr>
          <p:cNvSpPr txBox="1"/>
          <p:nvPr/>
        </p:nvSpPr>
        <p:spPr>
          <a:xfrm>
            <a:off x="6945086" y="389615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bg1">
                    <a:lumMod val="95000"/>
                  </a:schemeClr>
                </a:solidFill>
              </a:rPr>
              <a:t>Home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6BFFE8-4710-4300-682A-3020DC232AF3}"/>
              </a:ext>
            </a:extLst>
          </p:cNvPr>
          <p:cNvSpPr txBox="1"/>
          <p:nvPr/>
        </p:nvSpPr>
        <p:spPr>
          <a:xfrm>
            <a:off x="925941" y="2197893"/>
            <a:ext cx="27746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Comprehensive dashboard that seamlessly integrates with existing school systems, providing real-time insights and analytics for administrators and teachers.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CD91CE-45E3-067A-0595-A8D90A3EE384}"/>
              </a:ext>
            </a:extLst>
          </p:cNvPr>
          <p:cNvSpPr txBox="1"/>
          <p:nvPr/>
        </p:nvSpPr>
        <p:spPr>
          <a:xfrm>
            <a:off x="4784857" y="2197893"/>
            <a:ext cx="27746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Advanced progress tracking features that monitor student performance over time, identifying learning gaps and providing actionable insights for improvement.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BD2E47-29C8-DEF8-3AF2-DD292F9C1296}"/>
              </a:ext>
            </a:extLst>
          </p:cNvPr>
          <p:cNvSpPr txBox="1"/>
          <p:nvPr/>
        </p:nvSpPr>
        <p:spPr>
          <a:xfrm>
            <a:off x="8491374" y="2197892"/>
            <a:ext cx="27746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Empower teachers to create and customize assessment content tailored to their curriculum and student needs, ensuring relevance and engagement.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E6FAF1-C2DE-4287-9267-B2AFE5D88CAE}"/>
              </a:ext>
            </a:extLst>
          </p:cNvPr>
          <p:cNvSpPr txBox="1"/>
          <p:nvPr/>
        </p:nvSpPr>
        <p:spPr>
          <a:xfrm>
            <a:off x="10986922" y="368549"/>
            <a:ext cx="1284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Contact Us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2ECABA-6032-542C-C291-672763F678C5}"/>
              </a:ext>
            </a:extLst>
          </p:cNvPr>
          <p:cNvSpPr txBox="1"/>
          <p:nvPr/>
        </p:nvSpPr>
        <p:spPr>
          <a:xfrm>
            <a:off x="9786257" y="374892"/>
            <a:ext cx="1226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Subscription</a:t>
            </a:r>
          </a:p>
        </p:txBody>
      </p:sp>
    </p:spTree>
    <p:extLst>
      <p:ext uri="{BB962C8B-B14F-4D97-AF65-F5344CB8AC3E}">
        <p14:creationId xmlns:p14="http://schemas.microsoft.com/office/powerpoint/2010/main" val="200081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84AA5-8F57-39E9-EBF8-60B59628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40D0F9-1FC6-729D-9053-D38ABF8BD065}"/>
              </a:ext>
            </a:extLst>
          </p:cNvPr>
          <p:cNvSpPr/>
          <p:nvPr/>
        </p:nvSpPr>
        <p:spPr>
          <a:xfrm>
            <a:off x="0" y="0"/>
            <a:ext cx="12192000" cy="74022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EAA7BA-C0F0-0BE4-32B3-C5FEC008BD47}"/>
              </a:ext>
            </a:extLst>
          </p:cNvPr>
          <p:cNvSpPr txBox="1"/>
          <p:nvPr/>
        </p:nvSpPr>
        <p:spPr>
          <a:xfrm>
            <a:off x="704332" y="95425"/>
            <a:ext cx="21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Erudition Solutions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631C8A-05D0-B73C-336A-DD2C26B73EBE}"/>
              </a:ext>
            </a:extLst>
          </p:cNvPr>
          <p:cNvSpPr txBox="1"/>
          <p:nvPr/>
        </p:nvSpPr>
        <p:spPr>
          <a:xfrm>
            <a:off x="728826" y="385778"/>
            <a:ext cx="594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Teacher-Designed Student-Centered Testing Platform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2BCF16-07BE-03B0-E183-1BD0620DF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8" y="61003"/>
            <a:ext cx="624894" cy="57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A92FBC-6635-85D5-097B-A65DE823236E}"/>
              </a:ext>
            </a:extLst>
          </p:cNvPr>
          <p:cNvSpPr txBox="1"/>
          <p:nvPr/>
        </p:nvSpPr>
        <p:spPr>
          <a:xfrm>
            <a:off x="7841471" y="39462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Products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4DD8A4-AB50-8EEA-38D5-8AA8B99061CD}"/>
              </a:ext>
            </a:extLst>
          </p:cNvPr>
          <p:cNvSpPr txBox="1"/>
          <p:nvPr/>
        </p:nvSpPr>
        <p:spPr>
          <a:xfrm>
            <a:off x="8889872" y="388284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Support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BA5CE7-46CA-8E07-FB14-47EDCB8F7A0C}"/>
              </a:ext>
            </a:extLst>
          </p:cNvPr>
          <p:cNvSpPr txBox="1"/>
          <p:nvPr/>
        </p:nvSpPr>
        <p:spPr>
          <a:xfrm>
            <a:off x="6945086" y="389615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bg1">
                    <a:lumMod val="95000"/>
                  </a:schemeClr>
                </a:solidFill>
              </a:rPr>
              <a:t>Home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EA5E8D-9CF4-DFDF-2186-DF8177C3F3FD}"/>
              </a:ext>
            </a:extLst>
          </p:cNvPr>
          <p:cNvSpPr txBox="1"/>
          <p:nvPr/>
        </p:nvSpPr>
        <p:spPr>
          <a:xfrm>
            <a:off x="2492828" y="1289757"/>
            <a:ext cx="809573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Testing Students Knowledge and Skills the Erudition Way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1A7AA0-2798-D61C-FBDA-71A327CC6E68}"/>
              </a:ext>
            </a:extLst>
          </p:cNvPr>
          <p:cNvSpPr txBox="1"/>
          <p:nvPr/>
        </p:nvSpPr>
        <p:spPr>
          <a:xfrm>
            <a:off x="2650673" y="2884476"/>
            <a:ext cx="768531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Test-creation is only one of the many responsibilities that a classroom teacher faced in the classroom. As such it demands sufficient amount of teacher’s time and effort.</a:t>
            </a:r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3E9BF2-585D-06F5-49D1-A30B621BF806}"/>
              </a:ext>
            </a:extLst>
          </p:cNvPr>
          <p:cNvSpPr txBox="1"/>
          <p:nvPr/>
        </p:nvSpPr>
        <p:spPr>
          <a:xfrm>
            <a:off x="2624560" y="4977357"/>
            <a:ext cx="80957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We’ll do it for you!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888257-83AD-C6C3-ACB7-3DDC465DBAC4}"/>
              </a:ext>
            </a:extLst>
          </p:cNvPr>
          <p:cNvSpPr txBox="1"/>
          <p:nvPr/>
        </p:nvSpPr>
        <p:spPr>
          <a:xfrm>
            <a:off x="10986922" y="368549"/>
            <a:ext cx="1284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Contact Us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3E3FC5-8E57-C259-8BDE-45AAA6A47028}"/>
              </a:ext>
            </a:extLst>
          </p:cNvPr>
          <p:cNvSpPr txBox="1"/>
          <p:nvPr/>
        </p:nvSpPr>
        <p:spPr>
          <a:xfrm>
            <a:off x="9786257" y="374892"/>
            <a:ext cx="1226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Subscription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EE8405-A67C-8C87-B556-07AEB675D805}"/>
              </a:ext>
            </a:extLst>
          </p:cNvPr>
          <p:cNvSpPr/>
          <p:nvPr/>
        </p:nvSpPr>
        <p:spPr>
          <a:xfrm>
            <a:off x="35895" y="6335486"/>
            <a:ext cx="12192000" cy="522514"/>
          </a:xfrm>
          <a:prstGeom prst="rect">
            <a:avLst/>
          </a:prstGeom>
          <a:solidFill>
            <a:srgbClr val="156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05103B-B0A8-8BCF-2A3D-6C83B3147DAB}"/>
              </a:ext>
            </a:extLst>
          </p:cNvPr>
          <p:cNvSpPr txBox="1"/>
          <p:nvPr/>
        </p:nvSpPr>
        <p:spPr>
          <a:xfrm>
            <a:off x="1929753" y="6372451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Erudition Team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1C6D54-A11B-B034-D320-1D2EC793C8C0}"/>
              </a:ext>
            </a:extLst>
          </p:cNvPr>
          <p:cNvSpPr txBox="1"/>
          <p:nvPr/>
        </p:nvSpPr>
        <p:spPr>
          <a:xfrm>
            <a:off x="5977618" y="6352715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FAQ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F2E623-0C79-C126-7C32-903082C36DEE}"/>
              </a:ext>
            </a:extLst>
          </p:cNvPr>
          <p:cNvSpPr txBox="1"/>
          <p:nvPr/>
        </p:nvSpPr>
        <p:spPr>
          <a:xfrm>
            <a:off x="9614484" y="6376993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>
                    <a:lumMod val="95000"/>
                  </a:schemeClr>
                </a:solidFill>
              </a:rPr>
              <a:t>facebook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CFEBFB-C9BA-043D-E811-40BFB2002D3D}"/>
              </a:ext>
            </a:extLst>
          </p:cNvPr>
          <p:cNvSpPr txBox="1"/>
          <p:nvPr/>
        </p:nvSpPr>
        <p:spPr>
          <a:xfrm>
            <a:off x="10766491" y="6376993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Twitter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1AB0A3-79FF-B250-C4C8-904D8F0AA3F1}"/>
              </a:ext>
            </a:extLst>
          </p:cNvPr>
          <p:cNvSpPr txBox="1"/>
          <p:nvPr/>
        </p:nvSpPr>
        <p:spPr>
          <a:xfrm>
            <a:off x="111320" y="6352715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Useful Links:</a:t>
            </a:r>
          </a:p>
        </p:txBody>
      </p:sp>
    </p:spTree>
    <p:extLst>
      <p:ext uri="{BB962C8B-B14F-4D97-AF65-F5344CB8AC3E}">
        <p14:creationId xmlns:p14="http://schemas.microsoft.com/office/powerpoint/2010/main" val="2992522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F66CC-7F7C-9654-38FD-7CB48C7FE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5B78DF-E313-2B60-5306-663C9DE49E1D}"/>
              </a:ext>
            </a:extLst>
          </p:cNvPr>
          <p:cNvSpPr/>
          <p:nvPr/>
        </p:nvSpPr>
        <p:spPr>
          <a:xfrm>
            <a:off x="0" y="0"/>
            <a:ext cx="12192000" cy="74022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1C2AC-465F-6044-3306-4CA8AE138D3D}"/>
              </a:ext>
            </a:extLst>
          </p:cNvPr>
          <p:cNvSpPr txBox="1"/>
          <p:nvPr/>
        </p:nvSpPr>
        <p:spPr>
          <a:xfrm>
            <a:off x="704332" y="95425"/>
            <a:ext cx="21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Erudition Solutions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20828-5DAE-9CBA-8E9F-70E0B3B49734}"/>
              </a:ext>
            </a:extLst>
          </p:cNvPr>
          <p:cNvSpPr txBox="1"/>
          <p:nvPr/>
        </p:nvSpPr>
        <p:spPr>
          <a:xfrm>
            <a:off x="728826" y="385778"/>
            <a:ext cx="594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Teacher-Designed Student-Centered Testing Platform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C2C7A2-6126-E8A4-2E94-70FF96B05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" y="61003"/>
            <a:ext cx="624894" cy="57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10AF2B-A066-285F-1C2D-58B3B7F2DDAF}"/>
              </a:ext>
            </a:extLst>
          </p:cNvPr>
          <p:cNvSpPr txBox="1"/>
          <p:nvPr/>
        </p:nvSpPr>
        <p:spPr>
          <a:xfrm>
            <a:off x="7841471" y="39462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bg1">
                    <a:lumMod val="95000"/>
                  </a:schemeClr>
                </a:solidFill>
              </a:rPr>
              <a:t>Products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E12969-9EBC-D3E1-CA58-145B659B2710}"/>
              </a:ext>
            </a:extLst>
          </p:cNvPr>
          <p:cNvSpPr txBox="1"/>
          <p:nvPr/>
        </p:nvSpPr>
        <p:spPr>
          <a:xfrm>
            <a:off x="8889872" y="388284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Support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329CCA-B40D-12A4-679D-567CD67C45DA}"/>
              </a:ext>
            </a:extLst>
          </p:cNvPr>
          <p:cNvSpPr txBox="1"/>
          <p:nvPr/>
        </p:nvSpPr>
        <p:spPr>
          <a:xfrm>
            <a:off x="6945086" y="389615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Home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9F45C68-D995-D334-FB5C-A9E6CA138372}"/>
              </a:ext>
            </a:extLst>
          </p:cNvPr>
          <p:cNvSpPr/>
          <p:nvPr/>
        </p:nvSpPr>
        <p:spPr>
          <a:xfrm>
            <a:off x="533400" y="1348337"/>
            <a:ext cx="3569482" cy="3965380"/>
          </a:xfrm>
          <a:prstGeom prst="round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EF07BF-6446-032D-81A4-9E7EF5E1BC2A}"/>
              </a:ext>
            </a:extLst>
          </p:cNvPr>
          <p:cNvSpPr txBox="1"/>
          <p:nvPr/>
        </p:nvSpPr>
        <p:spPr>
          <a:xfrm>
            <a:off x="1850055" y="1575061"/>
            <a:ext cx="936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STAAR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6B05C53-2FF1-5B8C-DF54-1084CB073716}"/>
              </a:ext>
            </a:extLst>
          </p:cNvPr>
          <p:cNvSpPr/>
          <p:nvPr/>
        </p:nvSpPr>
        <p:spPr>
          <a:xfrm>
            <a:off x="4563614" y="1378449"/>
            <a:ext cx="3178628" cy="3965380"/>
          </a:xfrm>
          <a:prstGeom prst="round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9246E6-DF67-B9DB-3489-EC9904747EB4}"/>
              </a:ext>
            </a:extLst>
          </p:cNvPr>
          <p:cNvSpPr txBox="1"/>
          <p:nvPr/>
        </p:nvSpPr>
        <p:spPr>
          <a:xfrm>
            <a:off x="5783328" y="1528541"/>
            <a:ext cx="625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TSI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40A66BE-0045-4A21-CF86-5336791421D7}"/>
              </a:ext>
            </a:extLst>
          </p:cNvPr>
          <p:cNvSpPr/>
          <p:nvPr/>
        </p:nvSpPr>
        <p:spPr>
          <a:xfrm>
            <a:off x="8186058" y="1348337"/>
            <a:ext cx="3178628" cy="3965380"/>
          </a:xfrm>
          <a:prstGeom prst="round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6D6661-F6D3-17E3-0861-7E74BAC26D9F}"/>
              </a:ext>
            </a:extLst>
          </p:cNvPr>
          <p:cNvSpPr txBox="1"/>
          <p:nvPr/>
        </p:nvSpPr>
        <p:spPr>
          <a:xfrm>
            <a:off x="9241832" y="1528541"/>
            <a:ext cx="1411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SAT/ACT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72AB93-0705-4944-EAC9-8691E64021B7}"/>
              </a:ext>
            </a:extLst>
          </p:cNvPr>
          <p:cNvSpPr txBox="1"/>
          <p:nvPr/>
        </p:nvSpPr>
        <p:spPr>
          <a:xfrm>
            <a:off x="902998" y="2240225"/>
            <a:ext cx="283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Six Full Test for Algebra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79C48B-E78A-6ECB-377B-D4276C370343}"/>
              </a:ext>
            </a:extLst>
          </p:cNvPr>
          <p:cNvSpPr txBox="1"/>
          <p:nvPr/>
        </p:nvSpPr>
        <p:spPr>
          <a:xfrm>
            <a:off x="902998" y="2720723"/>
            <a:ext cx="2830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Analysis to identify student’s strength and Weaknesses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20CDBA-1BEE-E39E-4D5A-F5F06F4871A9}"/>
              </a:ext>
            </a:extLst>
          </p:cNvPr>
          <p:cNvSpPr txBox="1"/>
          <p:nvPr/>
        </p:nvSpPr>
        <p:spPr>
          <a:xfrm>
            <a:off x="902998" y="3885495"/>
            <a:ext cx="2830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dashboard for progress monitoring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29C1FE-5A3B-B6BC-FE15-5BD9C2044F65}"/>
              </a:ext>
            </a:extLst>
          </p:cNvPr>
          <p:cNvSpPr txBox="1"/>
          <p:nvPr/>
        </p:nvSpPr>
        <p:spPr>
          <a:xfrm>
            <a:off x="4857234" y="2202434"/>
            <a:ext cx="2830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Ten Full Test for TSI Math Practice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7B87AC-434F-F6D3-AD91-47BE9DF82E2D}"/>
              </a:ext>
            </a:extLst>
          </p:cNvPr>
          <p:cNvSpPr txBox="1"/>
          <p:nvPr/>
        </p:nvSpPr>
        <p:spPr>
          <a:xfrm>
            <a:off x="4857234" y="2870222"/>
            <a:ext cx="2830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Analysis to identify students need according to the four TSI tested component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043F32-F440-57AB-AB50-1BB3DEDD44D4}"/>
              </a:ext>
            </a:extLst>
          </p:cNvPr>
          <p:cNvSpPr txBox="1"/>
          <p:nvPr/>
        </p:nvSpPr>
        <p:spPr>
          <a:xfrm>
            <a:off x="4857234" y="4059667"/>
            <a:ext cx="2830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Detailed step-by-step explanation for each major concepts tested.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8F8F45-DCAC-7B06-7760-468F5E4BA1B9}"/>
              </a:ext>
            </a:extLst>
          </p:cNvPr>
          <p:cNvSpPr txBox="1"/>
          <p:nvPr/>
        </p:nvSpPr>
        <p:spPr>
          <a:xfrm>
            <a:off x="8389129" y="2074392"/>
            <a:ext cx="2830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Four Full Test for SAT/ACT Practice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9C3BD4-5F37-B6BE-FD8A-6D16200A126B}"/>
              </a:ext>
            </a:extLst>
          </p:cNvPr>
          <p:cNvSpPr txBox="1"/>
          <p:nvPr/>
        </p:nvSpPr>
        <p:spPr>
          <a:xfrm>
            <a:off x="8458716" y="3008721"/>
            <a:ext cx="2830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Detailed step-by-step explanation for each major concepts tested.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867777-F03C-64FC-6FD1-FDAE2356B30D}"/>
              </a:ext>
            </a:extLst>
          </p:cNvPr>
          <p:cNvSpPr txBox="1"/>
          <p:nvPr/>
        </p:nvSpPr>
        <p:spPr>
          <a:xfrm>
            <a:off x="10986922" y="368549"/>
            <a:ext cx="1284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Contact Us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F4484-F249-1129-9522-58A97AEBEAEC}"/>
              </a:ext>
            </a:extLst>
          </p:cNvPr>
          <p:cNvSpPr txBox="1"/>
          <p:nvPr/>
        </p:nvSpPr>
        <p:spPr>
          <a:xfrm>
            <a:off x="9786257" y="374892"/>
            <a:ext cx="1226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Subscription</a:t>
            </a:r>
          </a:p>
        </p:txBody>
      </p:sp>
    </p:spTree>
    <p:extLst>
      <p:ext uri="{BB962C8B-B14F-4D97-AF65-F5344CB8AC3E}">
        <p14:creationId xmlns:p14="http://schemas.microsoft.com/office/powerpoint/2010/main" val="3361924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03175-93C0-FA8E-3073-B4EB89B49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9F887B-F358-791A-25DE-6788EFED3BCB}"/>
              </a:ext>
            </a:extLst>
          </p:cNvPr>
          <p:cNvSpPr/>
          <p:nvPr/>
        </p:nvSpPr>
        <p:spPr>
          <a:xfrm>
            <a:off x="0" y="0"/>
            <a:ext cx="12192000" cy="74022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53DFB-E8D4-B9E0-303E-8555892827B8}"/>
              </a:ext>
            </a:extLst>
          </p:cNvPr>
          <p:cNvSpPr txBox="1"/>
          <p:nvPr/>
        </p:nvSpPr>
        <p:spPr>
          <a:xfrm>
            <a:off x="704332" y="95425"/>
            <a:ext cx="21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Erudition Solutions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82499-E468-59A4-C7DD-768F149B6A3C}"/>
              </a:ext>
            </a:extLst>
          </p:cNvPr>
          <p:cNvSpPr txBox="1"/>
          <p:nvPr/>
        </p:nvSpPr>
        <p:spPr>
          <a:xfrm>
            <a:off x="728826" y="385778"/>
            <a:ext cx="594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Teacher-Designed Student-Centered Testing Platform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20E315-BCE1-78BA-54B5-F1A350CAD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" y="61003"/>
            <a:ext cx="624894" cy="57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2FF326-8200-3BD4-E7C4-CAEE7295CE35}"/>
              </a:ext>
            </a:extLst>
          </p:cNvPr>
          <p:cNvSpPr txBox="1"/>
          <p:nvPr/>
        </p:nvSpPr>
        <p:spPr>
          <a:xfrm>
            <a:off x="7841471" y="39462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bg1">
                    <a:lumMod val="95000"/>
                  </a:schemeClr>
                </a:solidFill>
              </a:rPr>
              <a:t>Products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232AEF-6649-395A-FD51-99471FE80DF0}"/>
              </a:ext>
            </a:extLst>
          </p:cNvPr>
          <p:cNvSpPr txBox="1"/>
          <p:nvPr/>
        </p:nvSpPr>
        <p:spPr>
          <a:xfrm>
            <a:off x="8889872" y="388284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Support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3BA7B9-A4E3-21FE-7726-1F527AC41605}"/>
              </a:ext>
            </a:extLst>
          </p:cNvPr>
          <p:cNvSpPr txBox="1"/>
          <p:nvPr/>
        </p:nvSpPr>
        <p:spPr>
          <a:xfrm>
            <a:off x="6945086" y="389615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Home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9BB824-4118-569F-DF21-562EC2A19C1B}"/>
              </a:ext>
            </a:extLst>
          </p:cNvPr>
          <p:cNvSpPr txBox="1"/>
          <p:nvPr/>
        </p:nvSpPr>
        <p:spPr>
          <a:xfrm>
            <a:off x="1714499" y="1616328"/>
            <a:ext cx="86214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Teacher-Created Classroom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598902-E440-ADA5-627A-CCA861204A41}"/>
              </a:ext>
            </a:extLst>
          </p:cNvPr>
          <p:cNvSpPr txBox="1"/>
          <p:nvPr/>
        </p:nvSpPr>
        <p:spPr>
          <a:xfrm>
            <a:off x="1714499" y="2886045"/>
            <a:ext cx="862148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Erudition trust that teachers are the most qualified individuals to test their student’s knowledge and skills.  We put in their finger-tips, the ability to create their own questions and tests for classroom use.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2855EC-833A-BB78-ABBF-473FD9DEC350}"/>
              </a:ext>
            </a:extLst>
          </p:cNvPr>
          <p:cNvSpPr txBox="1"/>
          <p:nvPr/>
        </p:nvSpPr>
        <p:spPr>
          <a:xfrm>
            <a:off x="10986922" y="368549"/>
            <a:ext cx="1284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Contact 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C478A2-2F46-0E22-BAF0-7985D4D2E125}"/>
              </a:ext>
            </a:extLst>
          </p:cNvPr>
          <p:cNvSpPr txBox="1"/>
          <p:nvPr/>
        </p:nvSpPr>
        <p:spPr>
          <a:xfrm>
            <a:off x="9786257" y="374892"/>
            <a:ext cx="1226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Subscription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8FE799-B84C-5EF3-4907-7FDA09EBDFC0}"/>
              </a:ext>
            </a:extLst>
          </p:cNvPr>
          <p:cNvSpPr/>
          <p:nvPr/>
        </p:nvSpPr>
        <p:spPr>
          <a:xfrm>
            <a:off x="35895" y="6335486"/>
            <a:ext cx="12192000" cy="522514"/>
          </a:xfrm>
          <a:prstGeom prst="rect">
            <a:avLst/>
          </a:prstGeom>
          <a:solidFill>
            <a:srgbClr val="156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DC57EE-ED3F-7D78-0198-EB8604BF0FDB}"/>
              </a:ext>
            </a:extLst>
          </p:cNvPr>
          <p:cNvSpPr txBox="1"/>
          <p:nvPr/>
        </p:nvSpPr>
        <p:spPr>
          <a:xfrm>
            <a:off x="1929753" y="6372451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Erudition Team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2568A3-9657-72AD-C9C1-7A49D480A0C7}"/>
              </a:ext>
            </a:extLst>
          </p:cNvPr>
          <p:cNvSpPr txBox="1"/>
          <p:nvPr/>
        </p:nvSpPr>
        <p:spPr>
          <a:xfrm>
            <a:off x="5977618" y="6352715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FAQ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763995-8D64-78DC-EDE6-2B5E91F677BF}"/>
              </a:ext>
            </a:extLst>
          </p:cNvPr>
          <p:cNvSpPr txBox="1"/>
          <p:nvPr/>
        </p:nvSpPr>
        <p:spPr>
          <a:xfrm>
            <a:off x="9614484" y="6376993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>
                    <a:lumMod val="95000"/>
                  </a:schemeClr>
                </a:solidFill>
              </a:rPr>
              <a:t>facebook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1CD930-B7C3-8806-D848-4AF512B8258D}"/>
              </a:ext>
            </a:extLst>
          </p:cNvPr>
          <p:cNvSpPr txBox="1"/>
          <p:nvPr/>
        </p:nvSpPr>
        <p:spPr>
          <a:xfrm>
            <a:off x="10766491" y="6376993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Twitter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246724-1B5B-9A1E-7BF0-8E541E7D3681}"/>
              </a:ext>
            </a:extLst>
          </p:cNvPr>
          <p:cNvSpPr txBox="1"/>
          <p:nvPr/>
        </p:nvSpPr>
        <p:spPr>
          <a:xfrm>
            <a:off x="111320" y="6352715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Useful Links:</a:t>
            </a:r>
          </a:p>
        </p:txBody>
      </p:sp>
    </p:spTree>
    <p:extLst>
      <p:ext uri="{BB962C8B-B14F-4D97-AF65-F5344CB8AC3E}">
        <p14:creationId xmlns:p14="http://schemas.microsoft.com/office/powerpoint/2010/main" val="2324376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274F4-00D4-BFB4-E478-BFEA5AAD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D6943D-0DB5-769F-96F5-92D31C6917A0}"/>
              </a:ext>
            </a:extLst>
          </p:cNvPr>
          <p:cNvSpPr/>
          <p:nvPr/>
        </p:nvSpPr>
        <p:spPr>
          <a:xfrm>
            <a:off x="0" y="0"/>
            <a:ext cx="12192000" cy="74022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E7786-31A3-1E93-840B-14E1AC4CC242}"/>
              </a:ext>
            </a:extLst>
          </p:cNvPr>
          <p:cNvSpPr txBox="1"/>
          <p:nvPr/>
        </p:nvSpPr>
        <p:spPr>
          <a:xfrm>
            <a:off x="704332" y="95425"/>
            <a:ext cx="21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Erudition Solutions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0C8B50-6BE0-53F6-BD86-8756B3AEA71C}"/>
              </a:ext>
            </a:extLst>
          </p:cNvPr>
          <p:cNvSpPr txBox="1"/>
          <p:nvPr/>
        </p:nvSpPr>
        <p:spPr>
          <a:xfrm>
            <a:off x="728826" y="385778"/>
            <a:ext cx="594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Teacher-Designed Student-Centered Testing Platform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CC3B9E-CF06-253A-F86D-6C1FFFE96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" y="61003"/>
            <a:ext cx="624894" cy="57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B70C13-9461-F535-9D49-D3E15C280556}"/>
              </a:ext>
            </a:extLst>
          </p:cNvPr>
          <p:cNvSpPr txBox="1"/>
          <p:nvPr/>
        </p:nvSpPr>
        <p:spPr>
          <a:xfrm>
            <a:off x="7841471" y="39462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Products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CDFA27-0153-07A3-6E4D-25A577C75D68}"/>
              </a:ext>
            </a:extLst>
          </p:cNvPr>
          <p:cNvSpPr txBox="1"/>
          <p:nvPr/>
        </p:nvSpPr>
        <p:spPr>
          <a:xfrm>
            <a:off x="8889872" y="388284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bg1">
                    <a:lumMod val="95000"/>
                  </a:schemeClr>
                </a:solidFill>
              </a:rPr>
              <a:t>Support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7F8FE5-EEA4-FD0B-4311-AB4FFA90654E}"/>
              </a:ext>
            </a:extLst>
          </p:cNvPr>
          <p:cNvSpPr txBox="1"/>
          <p:nvPr/>
        </p:nvSpPr>
        <p:spPr>
          <a:xfrm>
            <a:off x="6945086" y="389615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Home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F77395-EBD5-2794-C555-42C8562F63CC}"/>
              </a:ext>
            </a:extLst>
          </p:cNvPr>
          <p:cNvSpPr txBox="1"/>
          <p:nvPr/>
        </p:nvSpPr>
        <p:spPr>
          <a:xfrm>
            <a:off x="10986922" y="368549"/>
            <a:ext cx="1284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Contact 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E2D18A-98D4-5CC8-0A96-54BDE00A8A49}"/>
              </a:ext>
            </a:extLst>
          </p:cNvPr>
          <p:cNvSpPr txBox="1"/>
          <p:nvPr/>
        </p:nvSpPr>
        <p:spPr>
          <a:xfrm>
            <a:off x="9786257" y="374892"/>
            <a:ext cx="1226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Subscription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78EB7D-B229-BF64-3C9C-31ACDBCD2BB4}"/>
              </a:ext>
            </a:extLst>
          </p:cNvPr>
          <p:cNvSpPr/>
          <p:nvPr/>
        </p:nvSpPr>
        <p:spPr>
          <a:xfrm>
            <a:off x="2090057" y="1561273"/>
            <a:ext cx="7696200" cy="4330642"/>
          </a:xfrm>
          <a:prstGeom prst="round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677D0-9565-C7A2-00DD-CEFAA4FAA4FC}"/>
              </a:ext>
            </a:extLst>
          </p:cNvPr>
          <p:cNvSpPr txBox="1"/>
          <p:nvPr/>
        </p:nvSpPr>
        <p:spPr>
          <a:xfrm>
            <a:off x="3221912" y="1031934"/>
            <a:ext cx="543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SEND A MESSAGE TO OUR TECHNICAL SUPPORT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0126CD-8EAE-2324-0263-1A6D662F15AA}"/>
              </a:ext>
            </a:extLst>
          </p:cNvPr>
          <p:cNvSpPr txBox="1"/>
          <p:nvPr/>
        </p:nvSpPr>
        <p:spPr>
          <a:xfrm>
            <a:off x="2601169" y="1915532"/>
            <a:ext cx="2830286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Name: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5DBA90-6C17-74A0-7A75-9A47F9574F54}"/>
              </a:ext>
            </a:extLst>
          </p:cNvPr>
          <p:cNvSpPr txBox="1"/>
          <p:nvPr/>
        </p:nvSpPr>
        <p:spPr>
          <a:xfrm>
            <a:off x="2590541" y="3246993"/>
            <a:ext cx="6695231" cy="1477328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Message: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EC0DF9-84F7-B047-A7DA-B2CACE0B0A76}"/>
              </a:ext>
            </a:extLst>
          </p:cNvPr>
          <p:cNvSpPr txBox="1"/>
          <p:nvPr/>
        </p:nvSpPr>
        <p:spPr>
          <a:xfrm>
            <a:off x="6379029" y="1898516"/>
            <a:ext cx="2830286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Email: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834997-C2CC-E07E-135D-071626BC6DF0}"/>
              </a:ext>
            </a:extLst>
          </p:cNvPr>
          <p:cNvSpPr txBox="1"/>
          <p:nvPr/>
        </p:nvSpPr>
        <p:spPr>
          <a:xfrm>
            <a:off x="6379029" y="2532988"/>
            <a:ext cx="2830286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Tel. No: (optional)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DF9DF9-948A-5457-8215-EE8926F0D460}"/>
              </a:ext>
            </a:extLst>
          </p:cNvPr>
          <p:cNvSpPr txBox="1"/>
          <p:nvPr/>
        </p:nvSpPr>
        <p:spPr>
          <a:xfrm>
            <a:off x="2601169" y="5068994"/>
            <a:ext cx="2670498" cy="369332"/>
          </a:xfrm>
          <a:prstGeom prst="rect">
            <a:avLst/>
          </a:prstGeom>
          <a:solidFill>
            <a:srgbClr val="006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03FC6F-D768-7D44-C3EC-873135EA1414}"/>
              </a:ext>
            </a:extLst>
          </p:cNvPr>
          <p:cNvSpPr/>
          <p:nvPr/>
        </p:nvSpPr>
        <p:spPr>
          <a:xfrm>
            <a:off x="35895" y="6335486"/>
            <a:ext cx="12192000" cy="522514"/>
          </a:xfrm>
          <a:prstGeom prst="rect">
            <a:avLst/>
          </a:prstGeom>
          <a:solidFill>
            <a:srgbClr val="156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F5DDFE-B709-D41F-195B-15E44D6AEEE8}"/>
              </a:ext>
            </a:extLst>
          </p:cNvPr>
          <p:cNvSpPr txBox="1"/>
          <p:nvPr/>
        </p:nvSpPr>
        <p:spPr>
          <a:xfrm>
            <a:off x="1929753" y="6372451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Erudition Team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D2ACB2-289D-9A20-06AB-301662088F33}"/>
              </a:ext>
            </a:extLst>
          </p:cNvPr>
          <p:cNvSpPr txBox="1"/>
          <p:nvPr/>
        </p:nvSpPr>
        <p:spPr>
          <a:xfrm>
            <a:off x="5977618" y="6352715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FAQ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981E0B-FDE1-8AA2-3F16-B624EB165168}"/>
              </a:ext>
            </a:extLst>
          </p:cNvPr>
          <p:cNvSpPr txBox="1"/>
          <p:nvPr/>
        </p:nvSpPr>
        <p:spPr>
          <a:xfrm>
            <a:off x="9614484" y="6376993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>
                    <a:lumMod val="95000"/>
                  </a:schemeClr>
                </a:solidFill>
              </a:rPr>
              <a:t>facebook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877BE6-3673-A52F-FDAB-2FAC4355F8BE}"/>
              </a:ext>
            </a:extLst>
          </p:cNvPr>
          <p:cNvSpPr txBox="1"/>
          <p:nvPr/>
        </p:nvSpPr>
        <p:spPr>
          <a:xfrm>
            <a:off x="10766491" y="6376993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Twitter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9111A0-D5CE-90DE-D7C7-D516EC0965D8}"/>
              </a:ext>
            </a:extLst>
          </p:cNvPr>
          <p:cNvSpPr txBox="1"/>
          <p:nvPr/>
        </p:nvSpPr>
        <p:spPr>
          <a:xfrm>
            <a:off x="111320" y="6352715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Useful Links:</a:t>
            </a:r>
          </a:p>
        </p:txBody>
      </p:sp>
    </p:spTree>
    <p:extLst>
      <p:ext uri="{BB962C8B-B14F-4D97-AF65-F5344CB8AC3E}">
        <p14:creationId xmlns:p14="http://schemas.microsoft.com/office/powerpoint/2010/main" val="3694798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C851D-4FE1-8A8C-D733-AC10CDE9E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481C41-2587-9FEE-617A-98C8C8AA24D8}"/>
              </a:ext>
            </a:extLst>
          </p:cNvPr>
          <p:cNvSpPr/>
          <p:nvPr/>
        </p:nvSpPr>
        <p:spPr>
          <a:xfrm>
            <a:off x="0" y="0"/>
            <a:ext cx="12192000" cy="74022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19CC46-A8FC-F372-E366-E5F9B8E63EF9}"/>
              </a:ext>
            </a:extLst>
          </p:cNvPr>
          <p:cNvSpPr txBox="1"/>
          <p:nvPr/>
        </p:nvSpPr>
        <p:spPr>
          <a:xfrm>
            <a:off x="704332" y="95425"/>
            <a:ext cx="21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Erudition Solutions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E225D9-FA81-6C97-118C-BADED2C328C6}"/>
              </a:ext>
            </a:extLst>
          </p:cNvPr>
          <p:cNvSpPr txBox="1"/>
          <p:nvPr/>
        </p:nvSpPr>
        <p:spPr>
          <a:xfrm>
            <a:off x="728826" y="385778"/>
            <a:ext cx="594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Teacher-Designed Student-Centered Testing Platform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BB712E-DB76-8648-894D-249A2BFFE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" y="61003"/>
            <a:ext cx="624894" cy="57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9E85EF-FB21-D504-4C60-FC751CFA1EAA}"/>
              </a:ext>
            </a:extLst>
          </p:cNvPr>
          <p:cNvSpPr txBox="1"/>
          <p:nvPr/>
        </p:nvSpPr>
        <p:spPr>
          <a:xfrm>
            <a:off x="7841471" y="39462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Products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E2F82A-9C37-CC6F-935A-42B1170D78A8}"/>
              </a:ext>
            </a:extLst>
          </p:cNvPr>
          <p:cNvSpPr txBox="1"/>
          <p:nvPr/>
        </p:nvSpPr>
        <p:spPr>
          <a:xfrm>
            <a:off x="8889872" y="388284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Support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177944-37F9-0B74-AA23-BF7101DB717A}"/>
              </a:ext>
            </a:extLst>
          </p:cNvPr>
          <p:cNvSpPr txBox="1"/>
          <p:nvPr/>
        </p:nvSpPr>
        <p:spPr>
          <a:xfrm>
            <a:off x="10986922" y="368549"/>
            <a:ext cx="1284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Contact Us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FD046D-F5D0-9BB4-7956-324BC6B7165D}"/>
              </a:ext>
            </a:extLst>
          </p:cNvPr>
          <p:cNvSpPr txBox="1"/>
          <p:nvPr/>
        </p:nvSpPr>
        <p:spPr>
          <a:xfrm>
            <a:off x="6945086" y="389615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Home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8C817F-049A-6C5E-028B-0C37CD86D9EA}"/>
              </a:ext>
            </a:extLst>
          </p:cNvPr>
          <p:cNvSpPr txBox="1"/>
          <p:nvPr/>
        </p:nvSpPr>
        <p:spPr>
          <a:xfrm>
            <a:off x="9786257" y="374892"/>
            <a:ext cx="1226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bg1">
                    <a:lumMod val="95000"/>
                  </a:schemeClr>
                </a:solidFill>
              </a:rPr>
              <a:t>Subscription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BFFD4B-1C3E-AE31-BBD1-ACFB33A6D2D0}"/>
              </a:ext>
            </a:extLst>
          </p:cNvPr>
          <p:cNvSpPr/>
          <p:nvPr/>
        </p:nvSpPr>
        <p:spPr>
          <a:xfrm>
            <a:off x="533400" y="1348337"/>
            <a:ext cx="2079171" cy="4524962"/>
          </a:xfrm>
          <a:prstGeom prst="round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62093-3FF9-02B6-25BA-6FD3E8902291}"/>
              </a:ext>
            </a:extLst>
          </p:cNvPr>
          <p:cNvSpPr txBox="1"/>
          <p:nvPr/>
        </p:nvSpPr>
        <p:spPr>
          <a:xfrm>
            <a:off x="805026" y="1565506"/>
            <a:ext cx="1644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Free Version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C631F29-C762-C6B8-9AB0-EA1905BF8160}"/>
              </a:ext>
            </a:extLst>
          </p:cNvPr>
          <p:cNvSpPr/>
          <p:nvPr/>
        </p:nvSpPr>
        <p:spPr>
          <a:xfrm>
            <a:off x="3468649" y="1348337"/>
            <a:ext cx="2079171" cy="4524962"/>
          </a:xfrm>
          <a:prstGeom prst="round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23D684-DCC4-EE41-2F2B-57A15BCAF746}"/>
              </a:ext>
            </a:extLst>
          </p:cNvPr>
          <p:cNvSpPr txBox="1"/>
          <p:nvPr/>
        </p:nvSpPr>
        <p:spPr>
          <a:xfrm>
            <a:off x="4101043" y="1565506"/>
            <a:ext cx="128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Basic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E63FD46-B6C5-B091-2067-1DA25E01A902}"/>
              </a:ext>
            </a:extLst>
          </p:cNvPr>
          <p:cNvSpPr/>
          <p:nvPr/>
        </p:nvSpPr>
        <p:spPr>
          <a:xfrm>
            <a:off x="6345328" y="1324853"/>
            <a:ext cx="2079171" cy="4524963"/>
          </a:xfrm>
          <a:prstGeom prst="round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F51CFE-91DF-D1EF-DEEA-8DAA38A21025}"/>
              </a:ext>
            </a:extLst>
          </p:cNvPr>
          <p:cNvSpPr txBox="1"/>
          <p:nvPr/>
        </p:nvSpPr>
        <p:spPr>
          <a:xfrm>
            <a:off x="6675525" y="1565506"/>
            <a:ext cx="1644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Intermediate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A779B24-8BEC-6D2C-13C0-324352103031}"/>
              </a:ext>
            </a:extLst>
          </p:cNvPr>
          <p:cNvSpPr/>
          <p:nvPr/>
        </p:nvSpPr>
        <p:spPr>
          <a:xfrm>
            <a:off x="9222007" y="1397780"/>
            <a:ext cx="2079171" cy="4475520"/>
          </a:xfrm>
          <a:prstGeom prst="round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9A138D-3463-2A8A-2FDC-AEF05F9F6B8A}"/>
              </a:ext>
            </a:extLst>
          </p:cNvPr>
          <p:cNvSpPr txBox="1"/>
          <p:nvPr/>
        </p:nvSpPr>
        <p:spPr>
          <a:xfrm>
            <a:off x="9493633" y="1565506"/>
            <a:ext cx="1644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Premium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FB3904-E250-5EDE-5FD4-6D0FEAFF9319}"/>
              </a:ext>
            </a:extLst>
          </p:cNvPr>
          <p:cNvSpPr txBox="1"/>
          <p:nvPr/>
        </p:nvSpPr>
        <p:spPr>
          <a:xfrm>
            <a:off x="9339148" y="2102564"/>
            <a:ext cx="1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Six Full Test for Algebra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B5222F-165E-C43D-853C-EC088202A1F1}"/>
              </a:ext>
            </a:extLst>
          </p:cNvPr>
          <p:cNvSpPr txBox="1"/>
          <p:nvPr/>
        </p:nvSpPr>
        <p:spPr>
          <a:xfrm>
            <a:off x="9357819" y="2591277"/>
            <a:ext cx="191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Ten Full Test for TSI Math Practice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E79C98-6F4E-A79E-DFE4-778177AE1DBC}"/>
              </a:ext>
            </a:extLst>
          </p:cNvPr>
          <p:cNvSpPr txBox="1"/>
          <p:nvPr/>
        </p:nvSpPr>
        <p:spPr>
          <a:xfrm>
            <a:off x="9376490" y="3114497"/>
            <a:ext cx="191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Four SAT/ACT Math Practice Test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A13A99-94F6-37C7-8B3D-319331099035}"/>
              </a:ext>
            </a:extLst>
          </p:cNvPr>
          <p:cNvSpPr txBox="1"/>
          <p:nvPr/>
        </p:nvSpPr>
        <p:spPr>
          <a:xfrm>
            <a:off x="9409490" y="3715095"/>
            <a:ext cx="1915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Detailed Item Analysis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F87607-D3B7-4899-ECFB-6D345723A23F}"/>
              </a:ext>
            </a:extLst>
          </p:cNvPr>
          <p:cNvSpPr txBox="1"/>
          <p:nvPr/>
        </p:nvSpPr>
        <p:spPr>
          <a:xfrm>
            <a:off x="9433688" y="4032233"/>
            <a:ext cx="1915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Data Dashboard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2854D3-DB46-4D22-6CF3-9EB46C49FD21}"/>
              </a:ext>
            </a:extLst>
          </p:cNvPr>
          <p:cNvSpPr txBox="1"/>
          <p:nvPr/>
        </p:nvSpPr>
        <p:spPr>
          <a:xfrm>
            <a:off x="9409490" y="4389854"/>
            <a:ext cx="1915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Teacher-Made Test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58CA7C-9908-34A2-437A-238129601137}"/>
              </a:ext>
            </a:extLst>
          </p:cNvPr>
          <p:cNvSpPr txBox="1"/>
          <p:nvPr/>
        </p:nvSpPr>
        <p:spPr>
          <a:xfrm>
            <a:off x="6564667" y="2187452"/>
            <a:ext cx="1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Four Full Test for Algebra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F2FE02-DF36-E644-98DE-F6E3ECBB8B04}"/>
              </a:ext>
            </a:extLst>
          </p:cNvPr>
          <p:cNvSpPr txBox="1"/>
          <p:nvPr/>
        </p:nvSpPr>
        <p:spPr>
          <a:xfrm>
            <a:off x="6567185" y="2731321"/>
            <a:ext cx="191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Five Full Test for TSI Math Practice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DAC157-8DB7-854A-95C7-0191D0E3795E}"/>
              </a:ext>
            </a:extLst>
          </p:cNvPr>
          <p:cNvSpPr txBox="1"/>
          <p:nvPr/>
        </p:nvSpPr>
        <p:spPr>
          <a:xfrm>
            <a:off x="6556300" y="3385457"/>
            <a:ext cx="191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Two SAT/ACT Math Practice Test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7E322E-D134-D6A1-1A5A-C9C42D57CC31}"/>
              </a:ext>
            </a:extLst>
          </p:cNvPr>
          <p:cNvSpPr txBox="1"/>
          <p:nvPr/>
        </p:nvSpPr>
        <p:spPr>
          <a:xfrm>
            <a:off x="6574409" y="4082077"/>
            <a:ext cx="1915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Detailed Item Analysis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15BFC6-D2DF-B51F-1597-F850A2570338}"/>
              </a:ext>
            </a:extLst>
          </p:cNvPr>
          <p:cNvSpPr txBox="1"/>
          <p:nvPr/>
        </p:nvSpPr>
        <p:spPr>
          <a:xfrm>
            <a:off x="6539711" y="4592636"/>
            <a:ext cx="1915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Teacher-Made Test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8F7695-742D-EC0F-AE53-E83209BD7AD2}"/>
              </a:ext>
            </a:extLst>
          </p:cNvPr>
          <p:cNvSpPr txBox="1"/>
          <p:nvPr/>
        </p:nvSpPr>
        <p:spPr>
          <a:xfrm>
            <a:off x="3722361" y="2102564"/>
            <a:ext cx="1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Two Full Test for Algebra 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04CA2E-F80D-A377-BFC3-4972C2611DAA}"/>
              </a:ext>
            </a:extLst>
          </p:cNvPr>
          <p:cNvSpPr txBox="1"/>
          <p:nvPr/>
        </p:nvSpPr>
        <p:spPr>
          <a:xfrm>
            <a:off x="3722361" y="2731321"/>
            <a:ext cx="191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Two Full Test for TSI Math Practice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62C67C-2052-E977-DE74-F0F75BE9FCBA}"/>
              </a:ext>
            </a:extLst>
          </p:cNvPr>
          <p:cNvSpPr txBox="1"/>
          <p:nvPr/>
        </p:nvSpPr>
        <p:spPr>
          <a:xfrm>
            <a:off x="3700626" y="3401618"/>
            <a:ext cx="191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One SAT/ACT Math Practice Test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5DC505-B202-FD3D-3F75-5C6A6434CC94}"/>
              </a:ext>
            </a:extLst>
          </p:cNvPr>
          <p:cNvSpPr txBox="1"/>
          <p:nvPr/>
        </p:nvSpPr>
        <p:spPr>
          <a:xfrm>
            <a:off x="3639159" y="4061156"/>
            <a:ext cx="1915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Detailed Item Analysis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8A4987-F6CB-5DC6-83B6-EFCCBCEC61C6}"/>
              </a:ext>
            </a:extLst>
          </p:cNvPr>
          <p:cNvSpPr txBox="1"/>
          <p:nvPr/>
        </p:nvSpPr>
        <p:spPr>
          <a:xfrm>
            <a:off x="665160" y="2187452"/>
            <a:ext cx="1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One Full Test for Algebra 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8AF4B7-1A25-2041-5E13-974D99324F87}"/>
              </a:ext>
            </a:extLst>
          </p:cNvPr>
          <p:cNvSpPr txBox="1"/>
          <p:nvPr/>
        </p:nvSpPr>
        <p:spPr>
          <a:xfrm>
            <a:off x="665160" y="2816209"/>
            <a:ext cx="191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One Full Test for TSI Math Practice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D71D3A-1B9A-4821-1985-7E5218352732}"/>
              </a:ext>
            </a:extLst>
          </p:cNvPr>
          <p:cNvSpPr txBox="1"/>
          <p:nvPr/>
        </p:nvSpPr>
        <p:spPr>
          <a:xfrm>
            <a:off x="643425" y="3486506"/>
            <a:ext cx="191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One SAT/ACT Math Practice Test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0B635C6-AFB9-70CA-3CC4-7A678AC92575}"/>
              </a:ext>
            </a:extLst>
          </p:cNvPr>
          <p:cNvSpPr/>
          <p:nvPr/>
        </p:nvSpPr>
        <p:spPr>
          <a:xfrm>
            <a:off x="805026" y="5138057"/>
            <a:ext cx="1447800" cy="5232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1592D6-2298-D742-D631-1476E749DA3C}"/>
              </a:ext>
            </a:extLst>
          </p:cNvPr>
          <p:cNvSpPr txBox="1"/>
          <p:nvPr/>
        </p:nvSpPr>
        <p:spPr>
          <a:xfrm>
            <a:off x="928345" y="5245778"/>
            <a:ext cx="1406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Choose Plan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F60C199-AC36-20DD-CA78-67D69F15B97D}"/>
              </a:ext>
            </a:extLst>
          </p:cNvPr>
          <p:cNvSpPr/>
          <p:nvPr/>
        </p:nvSpPr>
        <p:spPr>
          <a:xfrm>
            <a:off x="3779117" y="5046212"/>
            <a:ext cx="1447800" cy="5232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F76F365-26EB-B9AE-3DD8-A1FE3F18C295}"/>
              </a:ext>
            </a:extLst>
          </p:cNvPr>
          <p:cNvSpPr txBox="1"/>
          <p:nvPr/>
        </p:nvSpPr>
        <p:spPr>
          <a:xfrm>
            <a:off x="3902436" y="5153933"/>
            <a:ext cx="1406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Choose Plan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D526296-9A1B-4F10-5589-6E5736AB09BD}"/>
              </a:ext>
            </a:extLst>
          </p:cNvPr>
          <p:cNvSpPr/>
          <p:nvPr/>
        </p:nvSpPr>
        <p:spPr>
          <a:xfrm>
            <a:off x="6790044" y="5073813"/>
            <a:ext cx="1447800" cy="5232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2C8761-8163-1FE5-0419-543DEDD72C96}"/>
              </a:ext>
            </a:extLst>
          </p:cNvPr>
          <p:cNvSpPr txBox="1"/>
          <p:nvPr/>
        </p:nvSpPr>
        <p:spPr>
          <a:xfrm>
            <a:off x="6913363" y="5181534"/>
            <a:ext cx="1406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Choose Plan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609E9FE-8550-7371-4A90-8238DDC3A450}"/>
              </a:ext>
            </a:extLst>
          </p:cNvPr>
          <p:cNvSpPr/>
          <p:nvPr/>
        </p:nvSpPr>
        <p:spPr>
          <a:xfrm>
            <a:off x="9501053" y="5014391"/>
            <a:ext cx="1447800" cy="5232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DB170C-A57E-C2FF-F211-ABEA51D49C5D}"/>
              </a:ext>
            </a:extLst>
          </p:cNvPr>
          <p:cNvSpPr txBox="1"/>
          <p:nvPr/>
        </p:nvSpPr>
        <p:spPr>
          <a:xfrm>
            <a:off x="9624372" y="5122112"/>
            <a:ext cx="1406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Choose Plan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25B8C38-2F64-8EDE-5F7E-C3EA223B28F4}"/>
              </a:ext>
            </a:extLst>
          </p:cNvPr>
          <p:cNvSpPr/>
          <p:nvPr/>
        </p:nvSpPr>
        <p:spPr>
          <a:xfrm>
            <a:off x="35895" y="6335486"/>
            <a:ext cx="12192000" cy="522514"/>
          </a:xfrm>
          <a:prstGeom prst="rect">
            <a:avLst/>
          </a:prstGeom>
          <a:solidFill>
            <a:srgbClr val="156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F09C91F-9ADB-92CC-D86C-48F9B17F4E16}"/>
              </a:ext>
            </a:extLst>
          </p:cNvPr>
          <p:cNvSpPr txBox="1"/>
          <p:nvPr/>
        </p:nvSpPr>
        <p:spPr>
          <a:xfrm>
            <a:off x="1929753" y="6372451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Erudition Team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6984548-9087-F0E6-FDB4-15747FC7AD32}"/>
              </a:ext>
            </a:extLst>
          </p:cNvPr>
          <p:cNvSpPr txBox="1"/>
          <p:nvPr/>
        </p:nvSpPr>
        <p:spPr>
          <a:xfrm>
            <a:off x="5977618" y="6352715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FAQ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04920EB-E1E7-FE3D-E363-A9A228E6666E}"/>
              </a:ext>
            </a:extLst>
          </p:cNvPr>
          <p:cNvSpPr txBox="1"/>
          <p:nvPr/>
        </p:nvSpPr>
        <p:spPr>
          <a:xfrm>
            <a:off x="9614484" y="6376993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>
                    <a:lumMod val="95000"/>
                  </a:schemeClr>
                </a:solidFill>
              </a:rPr>
              <a:t>facebook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40E47D4-DB13-F44F-262F-D668E2F44296}"/>
              </a:ext>
            </a:extLst>
          </p:cNvPr>
          <p:cNvSpPr txBox="1"/>
          <p:nvPr/>
        </p:nvSpPr>
        <p:spPr>
          <a:xfrm>
            <a:off x="10766491" y="6376993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Twitter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B7D87A2-6606-BA8A-08AA-A949CEB39A0D}"/>
              </a:ext>
            </a:extLst>
          </p:cNvPr>
          <p:cNvSpPr txBox="1"/>
          <p:nvPr/>
        </p:nvSpPr>
        <p:spPr>
          <a:xfrm>
            <a:off x="111320" y="6352715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Useful Links:</a:t>
            </a:r>
          </a:p>
        </p:txBody>
      </p:sp>
    </p:spTree>
    <p:extLst>
      <p:ext uri="{BB962C8B-B14F-4D97-AF65-F5344CB8AC3E}">
        <p14:creationId xmlns:p14="http://schemas.microsoft.com/office/powerpoint/2010/main" val="158025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C0BB9-75D3-F618-8658-02966C3AC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395EDA-4736-7531-1043-DFC44A7ECD66}"/>
              </a:ext>
            </a:extLst>
          </p:cNvPr>
          <p:cNvSpPr/>
          <p:nvPr/>
        </p:nvSpPr>
        <p:spPr>
          <a:xfrm>
            <a:off x="0" y="0"/>
            <a:ext cx="12192000" cy="74022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85527-5130-A680-C4DE-8F61738184D9}"/>
              </a:ext>
            </a:extLst>
          </p:cNvPr>
          <p:cNvSpPr txBox="1"/>
          <p:nvPr/>
        </p:nvSpPr>
        <p:spPr>
          <a:xfrm>
            <a:off x="704332" y="95425"/>
            <a:ext cx="21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Erudition Solutions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576432-39F3-E22A-D124-AA4F14B82E5A}"/>
              </a:ext>
            </a:extLst>
          </p:cNvPr>
          <p:cNvSpPr txBox="1"/>
          <p:nvPr/>
        </p:nvSpPr>
        <p:spPr>
          <a:xfrm>
            <a:off x="728826" y="385778"/>
            <a:ext cx="594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Teacher-Designed Student-Centered Testing Platform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5BF1D5-4705-8970-C069-7247BD47E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" y="61003"/>
            <a:ext cx="624894" cy="57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944628-693F-C4D1-8D02-FE7DA4E1BFF3}"/>
              </a:ext>
            </a:extLst>
          </p:cNvPr>
          <p:cNvSpPr txBox="1"/>
          <p:nvPr/>
        </p:nvSpPr>
        <p:spPr>
          <a:xfrm>
            <a:off x="7841471" y="39462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Products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236F28-B8EE-248F-AC5D-F4B878AC4703}"/>
              </a:ext>
            </a:extLst>
          </p:cNvPr>
          <p:cNvSpPr txBox="1"/>
          <p:nvPr/>
        </p:nvSpPr>
        <p:spPr>
          <a:xfrm>
            <a:off x="8889872" y="388284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Support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B74C31-6EC8-6FBD-6820-29B233080EDF}"/>
              </a:ext>
            </a:extLst>
          </p:cNvPr>
          <p:cNvSpPr txBox="1"/>
          <p:nvPr/>
        </p:nvSpPr>
        <p:spPr>
          <a:xfrm>
            <a:off x="6945086" y="389615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Home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25CE65-233C-1272-D73A-2B6816B0E7D7}"/>
              </a:ext>
            </a:extLst>
          </p:cNvPr>
          <p:cNvSpPr/>
          <p:nvPr/>
        </p:nvSpPr>
        <p:spPr>
          <a:xfrm>
            <a:off x="391885" y="1348337"/>
            <a:ext cx="7696200" cy="4846342"/>
          </a:xfrm>
          <a:prstGeom prst="round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2C3A39-C22C-0CA3-95C3-FB9DC5F52A3F}"/>
              </a:ext>
            </a:extLst>
          </p:cNvPr>
          <p:cNvSpPr txBox="1"/>
          <p:nvPr/>
        </p:nvSpPr>
        <p:spPr>
          <a:xfrm>
            <a:off x="932673" y="1750172"/>
            <a:ext cx="1742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CONTACT 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5B427F-968D-9ED0-C3DC-6B6A937AB4FF}"/>
              </a:ext>
            </a:extLst>
          </p:cNvPr>
          <p:cNvSpPr txBox="1"/>
          <p:nvPr/>
        </p:nvSpPr>
        <p:spPr>
          <a:xfrm>
            <a:off x="902998" y="2240225"/>
            <a:ext cx="2830286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Name: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E9D620-5073-62AE-5544-67811E91C745}"/>
              </a:ext>
            </a:extLst>
          </p:cNvPr>
          <p:cNvSpPr txBox="1"/>
          <p:nvPr/>
        </p:nvSpPr>
        <p:spPr>
          <a:xfrm>
            <a:off x="902997" y="3885495"/>
            <a:ext cx="6695231" cy="1477328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Message: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6A1F36-319F-31BC-5024-004F29FDC7E6}"/>
              </a:ext>
            </a:extLst>
          </p:cNvPr>
          <p:cNvSpPr txBox="1"/>
          <p:nvPr/>
        </p:nvSpPr>
        <p:spPr>
          <a:xfrm>
            <a:off x="4680857" y="2240225"/>
            <a:ext cx="2830286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Email: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46DCB6-D3D2-CE1F-D37F-AF272AAF67F4}"/>
              </a:ext>
            </a:extLst>
          </p:cNvPr>
          <p:cNvSpPr txBox="1"/>
          <p:nvPr/>
        </p:nvSpPr>
        <p:spPr>
          <a:xfrm>
            <a:off x="4680857" y="2961695"/>
            <a:ext cx="2830286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Tel. No: (optional)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47037B-F1A4-B472-E414-8BDF856B457A}"/>
              </a:ext>
            </a:extLst>
          </p:cNvPr>
          <p:cNvSpPr txBox="1"/>
          <p:nvPr/>
        </p:nvSpPr>
        <p:spPr>
          <a:xfrm>
            <a:off x="932673" y="5660571"/>
            <a:ext cx="2670498" cy="369332"/>
          </a:xfrm>
          <a:prstGeom prst="rect">
            <a:avLst/>
          </a:prstGeom>
          <a:solidFill>
            <a:srgbClr val="006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72CBD8-E8EE-FD24-F218-38F065A34A6E}"/>
              </a:ext>
            </a:extLst>
          </p:cNvPr>
          <p:cNvSpPr/>
          <p:nvPr/>
        </p:nvSpPr>
        <p:spPr>
          <a:xfrm>
            <a:off x="35895" y="6335486"/>
            <a:ext cx="12192000" cy="522514"/>
          </a:xfrm>
          <a:prstGeom prst="rect">
            <a:avLst/>
          </a:prstGeom>
          <a:solidFill>
            <a:srgbClr val="156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F98CD0-3AC5-8B53-2834-953076A3326D}"/>
              </a:ext>
            </a:extLst>
          </p:cNvPr>
          <p:cNvSpPr txBox="1"/>
          <p:nvPr/>
        </p:nvSpPr>
        <p:spPr>
          <a:xfrm>
            <a:off x="1929753" y="6372451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Erudition Team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7A5C98-1504-BBA5-A541-92DD8269DA7E}"/>
              </a:ext>
            </a:extLst>
          </p:cNvPr>
          <p:cNvSpPr txBox="1"/>
          <p:nvPr/>
        </p:nvSpPr>
        <p:spPr>
          <a:xfrm>
            <a:off x="5977618" y="6352715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FAQ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E71DA6-1EB6-DF8F-77AA-8937A860255C}"/>
              </a:ext>
            </a:extLst>
          </p:cNvPr>
          <p:cNvSpPr txBox="1"/>
          <p:nvPr/>
        </p:nvSpPr>
        <p:spPr>
          <a:xfrm>
            <a:off x="9614484" y="6376993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>
                    <a:lumMod val="95000"/>
                  </a:schemeClr>
                </a:solidFill>
              </a:rPr>
              <a:t>facebook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9ECAAE-D7B9-ADA3-A5BF-C52DD909199B}"/>
              </a:ext>
            </a:extLst>
          </p:cNvPr>
          <p:cNvSpPr txBox="1"/>
          <p:nvPr/>
        </p:nvSpPr>
        <p:spPr>
          <a:xfrm>
            <a:off x="10766491" y="6376993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Twitter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1D4A50-54D0-077C-BF30-2DF3FD8F6312}"/>
              </a:ext>
            </a:extLst>
          </p:cNvPr>
          <p:cNvSpPr txBox="1"/>
          <p:nvPr/>
        </p:nvSpPr>
        <p:spPr>
          <a:xfrm>
            <a:off x="111320" y="6352715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Useful Links:</a:t>
            </a:r>
          </a:p>
        </p:txBody>
      </p:sp>
    </p:spTree>
    <p:extLst>
      <p:ext uri="{BB962C8B-B14F-4D97-AF65-F5344CB8AC3E}">
        <p14:creationId xmlns:p14="http://schemas.microsoft.com/office/powerpoint/2010/main" val="4181812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F4D09-B7F3-61BB-4332-8005EC5C4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74AA7-1ED6-8D01-AF52-F462F227C56F}"/>
              </a:ext>
            </a:extLst>
          </p:cNvPr>
          <p:cNvSpPr/>
          <p:nvPr/>
        </p:nvSpPr>
        <p:spPr>
          <a:xfrm>
            <a:off x="0" y="0"/>
            <a:ext cx="12192000" cy="74022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4DC3B3-43CA-FFFF-5959-BA1775CB3392}"/>
              </a:ext>
            </a:extLst>
          </p:cNvPr>
          <p:cNvSpPr txBox="1"/>
          <p:nvPr/>
        </p:nvSpPr>
        <p:spPr>
          <a:xfrm>
            <a:off x="704332" y="95425"/>
            <a:ext cx="21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Erudition Solutions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630958-0DF8-6103-2D23-293D556B7D56}"/>
              </a:ext>
            </a:extLst>
          </p:cNvPr>
          <p:cNvSpPr txBox="1"/>
          <p:nvPr/>
        </p:nvSpPr>
        <p:spPr>
          <a:xfrm>
            <a:off x="728826" y="385778"/>
            <a:ext cx="594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Teacher-Designed Student-Centered Testing Platform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792AE53-CFE2-80F0-9910-5F961F0DF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" y="61003"/>
            <a:ext cx="624894" cy="57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D38B3E-9136-082B-E723-338B3C3D981B}"/>
              </a:ext>
            </a:extLst>
          </p:cNvPr>
          <p:cNvSpPr txBox="1"/>
          <p:nvPr/>
        </p:nvSpPr>
        <p:spPr>
          <a:xfrm>
            <a:off x="7841471" y="39462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Products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160C00-A160-E613-4D19-C772FECF184E}"/>
              </a:ext>
            </a:extLst>
          </p:cNvPr>
          <p:cNvSpPr txBox="1"/>
          <p:nvPr/>
        </p:nvSpPr>
        <p:spPr>
          <a:xfrm>
            <a:off x="8889872" y="388284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Support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425D3A-DF26-94AC-C7DD-89D810A0A493}"/>
              </a:ext>
            </a:extLst>
          </p:cNvPr>
          <p:cNvSpPr txBox="1"/>
          <p:nvPr/>
        </p:nvSpPr>
        <p:spPr>
          <a:xfrm>
            <a:off x="6945086" y="389615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Home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585674-1F41-2AD9-05AB-BB5F59A5822B}"/>
              </a:ext>
            </a:extLst>
          </p:cNvPr>
          <p:cNvSpPr txBox="1"/>
          <p:nvPr/>
        </p:nvSpPr>
        <p:spPr>
          <a:xfrm>
            <a:off x="10986922" y="368549"/>
            <a:ext cx="1284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Contact 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25029D-F7D1-EB18-3DE5-86ACA975A418}"/>
              </a:ext>
            </a:extLst>
          </p:cNvPr>
          <p:cNvSpPr txBox="1"/>
          <p:nvPr/>
        </p:nvSpPr>
        <p:spPr>
          <a:xfrm>
            <a:off x="9786257" y="374892"/>
            <a:ext cx="1226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Subscription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DE4CF3-0B20-220B-58B4-AD737280F59B}"/>
              </a:ext>
            </a:extLst>
          </p:cNvPr>
          <p:cNvSpPr txBox="1"/>
          <p:nvPr/>
        </p:nvSpPr>
        <p:spPr>
          <a:xfrm>
            <a:off x="4618263" y="864397"/>
            <a:ext cx="2955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Erudition Team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BA9668-F533-F299-BEA3-0FF7D67262D8}"/>
              </a:ext>
            </a:extLst>
          </p:cNvPr>
          <p:cNvSpPr txBox="1"/>
          <p:nvPr/>
        </p:nvSpPr>
        <p:spPr>
          <a:xfrm>
            <a:off x="381953" y="3411520"/>
            <a:ext cx="2205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Content/Product Design Officer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CD5709F-649D-55AB-853C-09086B6CFBA8}"/>
              </a:ext>
            </a:extLst>
          </p:cNvPr>
          <p:cNvSpPr/>
          <p:nvPr/>
        </p:nvSpPr>
        <p:spPr>
          <a:xfrm>
            <a:off x="3145453" y="1481007"/>
            <a:ext cx="1110343" cy="1469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60D455-30A1-7479-0688-0FE274D279AC}"/>
              </a:ext>
            </a:extLst>
          </p:cNvPr>
          <p:cNvSpPr txBox="1"/>
          <p:nvPr/>
        </p:nvSpPr>
        <p:spPr>
          <a:xfrm>
            <a:off x="2801964" y="3052003"/>
            <a:ext cx="2205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>
                    <a:lumMod val="85000"/>
                  </a:schemeClr>
                </a:solidFill>
              </a:rPr>
              <a:t>Yshmael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</a:rPr>
              <a:t>Ammonraheem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F43F2B-0747-1157-ACC1-B5CD6DFF9156}"/>
              </a:ext>
            </a:extLst>
          </p:cNvPr>
          <p:cNvSpPr txBox="1"/>
          <p:nvPr/>
        </p:nvSpPr>
        <p:spPr>
          <a:xfrm>
            <a:off x="2758492" y="3415037"/>
            <a:ext cx="1992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Chief Technical Officer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F0C039C-D97D-14C2-97A4-2C2BD5D2DDB0}"/>
              </a:ext>
            </a:extLst>
          </p:cNvPr>
          <p:cNvSpPr/>
          <p:nvPr/>
        </p:nvSpPr>
        <p:spPr>
          <a:xfrm>
            <a:off x="620485" y="1452965"/>
            <a:ext cx="1110343" cy="1469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7A6C6D-4CDF-1A28-9D0E-573DDFF531EA}"/>
              </a:ext>
            </a:extLst>
          </p:cNvPr>
          <p:cNvSpPr txBox="1"/>
          <p:nvPr/>
        </p:nvSpPr>
        <p:spPr>
          <a:xfrm>
            <a:off x="603242" y="3025770"/>
            <a:ext cx="1741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Arnulfo Ninal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5F7B48D-B288-9668-CD09-983765B4092D}"/>
              </a:ext>
            </a:extLst>
          </p:cNvPr>
          <p:cNvSpPr/>
          <p:nvPr/>
        </p:nvSpPr>
        <p:spPr>
          <a:xfrm>
            <a:off x="5540827" y="1511785"/>
            <a:ext cx="1110343" cy="1469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CE105B1-233F-A147-FE7B-9A27933FB912}"/>
              </a:ext>
            </a:extLst>
          </p:cNvPr>
          <p:cNvSpPr/>
          <p:nvPr/>
        </p:nvSpPr>
        <p:spPr>
          <a:xfrm>
            <a:off x="10366341" y="1452965"/>
            <a:ext cx="1110343" cy="1469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C3EF8A3-3063-B7BF-2915-B8CD554037A2}"/>
              </a:ext>
            </a:extLst>
          </p:cNvPr>
          <p:cNvSpPr/>
          <p:nvPr/>
        </p:nvSpPr>
        <p:spPr>
          <a:xfrm>
            <a:off x="7953584" y="1481007"/>
            <a:ext cx="1110343" cy="1469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FEF29A-8E48-3472-18DA-C9A5EA5D034E}"/>
              </a:ext>
            </a:extLst>
          </p:cNvPr>
          <p:cNvSpPr txBox="1"/>
          <p:nvPr/>
        </p:nvSpPr>
        <p:spPr>
          <a:xfrm>
            <a:off x="5747608" y="3052003"/>
            <a:ext cx="2205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Carol Wu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EE238B-80EE-24BF-0A82-9AC9F7642E02}"/>
              </a:ext>
            </a:extLst>
          </p:cNvPr>
          <p:cNvSpPr txBox="1"/>
          <p:nvPr/>
        </p:nvSpPr>
        <p:spPr>
          <a:xfrm>
            <a:off x="5363860" y="3292913"/>
            <a:ext cx="2524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Product Quality Control Officer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11516E-B012-23E2-BA17-1A20EA296E34}"/>
              </a:ext>
            </a:extLst>
          </p:cNvPr>
          <p:cNvSpPr txBox="1"/>
          <p:nvPr/>
        </p:nvSpPr>
        <p:spPr>
          <a:xfrm>
            <a:off x="7623141" y="3025771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Florabelle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</a:rPr>
              <a:t>Ammonraheem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94F761-FB9B-89E5-B626-35A90F378FAB}"/>
              </a:ext>
            </a:extLst>
          </p:cNvPr>
          <p:cNvSpPr txBox="1"/>
          <p:nvPr/>
        </p:nvSpPr>
        <p:spPr>
          <a:xfrm>
            <a:off x="7627435" y="3307316"/>
            <a:ext cx="2524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Compliance and Finance Officer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085605-727E-A9F2-64AE-DA956307A6AB}"/>
              </a:ext>
            </a:extLst>
          </p:cNvPr>
          <p:cNvSpPr txBox="1"/>
          <p:nvPr/>
        </p:nvSpPr>
        <p:spPr>
          <a:xfrm>
            <a:off x="9891010" y="3327251"/>
            <a:ext cx="2524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Research and Innovation Officer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C80918-5097-6561-CD9E-C5BB2E7F2378}"/>
              </a:ext>
            </a:extLst>
          </p:cNvPr>
          <p:cNvSpPr txBox="1"/>
          <p:nvPr/>
        </p:nvSpPr>
        <p:spPr>
          <a:xfrm>
            <a:off x="9891010" y="3019474"/>
            <a:ext cx="2220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>
                    <a:lumMod val="85000"/>
                  </a:schemeClr>
                </a:solidFill>
              </a:rPr>
              <a:t>Biddolph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 Billy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</a:rPr>
              <a:t>Uzaka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 Ph. 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88E238-134F-9AB0-7BC6-FAF33D3C3430}"/>
              </a:ext>
            </a:extLst>
          </p:cNvPr>
          <p:cNvSpPr txBox="1"/>
          <p:nvPr/>
        </p:nvSpPr>
        <p:spPr>
          <a:xfrm>
            <a:off x="495298" y="4197820"/>
            <a:ext cx="2955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Off-Shore Team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4654AC7-D553-E517-501D-1A88CA32B878}"/>
              </a:ext>
            </a:extLst>
          </p:cNvPr>
          <p:cNvSpPr/>
          <p:nvPr/>
        </p:nvSpPr>
        <p:spPr>
          <a:xfrm>
            <a:off x="1730828" y="4878450"/>
            <a:ext cx="688819" cy="9736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6E2BA75-F5DE-6B13-3617-55F547B582FA}"/>
              </a:ext>
            </a:extLst>
          </p:cNvPr>
          <p:cNvSpPr/>
          <p:nvPr/>
        </p:nvSpPr>
        <p:spPr>
          <a:xfrm>
            <a:off x="3349521" y="4828891"/>
            <a:ext cx="688819" cy="9736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C83F151-BDF5-B44E-FF3B-9714F3069A10}"/>
              </a:ext>
            </a:extLst>
          </p:cNvPr>
          <p:cNvSpPr/>
          <p:nvPr/>
        </p:nvSpPr>
        <p:spPr>
          <a:xfrm>
            <a:off x="9677522" y="4756622"/>
            <a:ext cx="688819" cy="9736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F0036D3-28DE-5153-D3AB-D9E9EE6047D5}"/>
              </a:ext>
            </a:extLst>
          </p:cNvPr>
          <p:cNvSpPr/>
          <p:nvPr/>
        </p:nvSpPr>
        <p:spPr>
          <a:xfrm>
            <a:off x="8298670" y="4792794"/>
            <a:ext cx="688819" cy="9736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56FF75B-3D43-3BF0-101F-7F8FBD44B964}"/>
              </a:ext>
            </a:extLst>
          </p:cNvPr>
          <p:cNvSpPr/>
          <p:nvPr/>
        </p:nvSpPr>
        <p:spPr>
          <a:xfrm>
            <a:off x="6724352" y="4792794"/>
            <a:ext cx="688819" cy="9736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05AAE74-C1C1-9565-E33F-4D5C38DBB93F}"/>
              </a:ext>
            </a:extLst>
          </p:cNvPr>
          <p:cNvSpPr/>
          <p:nvPr/>
        </p:nvSpPr>
        <p:spPr>
          <a:xfrm>
            <a:off x="4887167" y="4792794"/>
            <a:ext cx="688819" cy="9736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9C1CFC-B7B7-0B43-4A33-97E5C6E26602}"/>
              </a:ext>
            </a:extLst>
          </p:cNvPr>
          <p:cNvSpPr txBox="1"/>
          <p:nvPr/>
        </p:nvSpPr>
        <p:spPr>
          <a:xfrm>
            <a:off x="1361724" y="5896470"/>
            <a:ext cx="1741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Paul Vincent Jor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C7C0C9-5D0C-7668-1877-7E053439D554}"/>
              </a:ext>
            </a:extLst>
          </p:cNvPr>
          <p:cNvSpPr txBox="1"/>
          <p:nvPr/>
        </p:nvSpPr>
        <p:spPr>
          <a:xfrm>
            <a:off x="3266226" y="5872550"/>
            <a:ext cx="1741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Alan Ninal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B63188-0779-0643-66DF-1ED01843189D}"/>
              </a:ext>
            </a:extLst>
          </p:cNvPr>
          <p:cNvSpPr txBox="1"/>
          <p:nvPr/>
        </p:nvSpPr>
        <p:spPr>
          <a:xfrm>
            <a:off x="4393104" y="5852092"/>
            <a:ext cx="202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Khyn Harold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</a:rPr>
              <a:t>Antoque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1CA242-3204-3D58-98A7-26CA08583151}"/>
              </a:ext>
            </a:extLst>
          </p:cNvPr>
          <p:cNvSpPr txBox="1"/>
          <p:nvPr/>
        </p:nvSpPr>
        <p:spPr>
          <a:xfrm>
            <a:off x="6606997" y="5839714"/>
            <a:ext cx="1215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>
                    <a:lumMod val="85000"/>
                  </a:schemeClr>
                </a:solidFill>
              </a:rPr>
              <a:t>Jimrie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 Perez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2D6DCD-2313-93CF-24C7-EB0131D87EAB}"/>
              </a:ext>
            </a:extLst>
          </p:cNvPr>
          <p:cNvSpPr txBox="1"/>
          <p:nvPr/>
        </p:nvSpPr>
        <p:spPr>
          <a:xfrm>
            <a:off x="8019013" y="5839713"/>
            <a:ext cx="1741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Trishia Mae Cagigas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29BC9B-73B4-0AAA-BF65-0E79C5D80967}"/>
              </a:ext>
            </a:extLst>
          </p:cNvPr>
          <p:cNvSpPr txBox="1"/>
          <p:nvPr/>
        </p:nvSpPr>
        <p:spPr>
          <a:xfrm>
            <a:off x="9810362" y="5860322"/>
            <a:ext cx="1301615" cy="311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Gelo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5074BB5-0E99-6009-A682-B5DE32786608}"/>
              </a:ext>
            </a:extLst>
          </p:cNvPr>
          <p:cNvSpPr/>
          <p:nvPr/>
        </p:nvSpPr>
        <p:spPr>
          <a:xfrm>
            <a:off x="35895" y="6335486"/>
            <a:ext cx="12192000" cy="522514"/>
          </a:xfrm>
          <a:prstGeom prst="rect">
            <a:avLst/>
          </a:prstGeom>
          <a:solidFill>
            <a:srgbClr val="156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1D8B15-087B-CD1F-CC11-22B54CA651DF}"/>
              </a:ext>
            </a:extLst>
          </p:cNvPr>
          <p:cNvSpPr txBox="1"/>
          <p:nvPr/>
        </p:nvSpPr>
        <p:spPr>
          <a:xfrm>
            <a:off x="1929753" y="6372451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bg1">
                    <a:lumMod val="95000"/>
                  </a:schemeClr>
                </a:solidFill>
              </a:rPr>
              <a:t>Erudition Team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753ECF-B278-777E-687D-0827A75B3A44}"/>
              </a:ext>
            </a:extLst>
          </p:cNvPr>
          <p:cNvSpPr txBox="1"/>
          <p:nvPr/>
        </p:nvSpPr>
        <p:spPr>
          <a:xfrm>
            <a:off x="5977618" y="6352715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FAQ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A79719-9D33-02E2-71F1-564176F64440}"/>
              </a:ext>
            </a:extLst>
          </p:cNvPr>
          <p:cNvSpPr txBox="1"/>
          <p:nvPr/>
        </p:nvSpPr>
        <p:spPr>
          <a:xfrm>
            <a:off x="9614484" y="6376993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1">
                    <a:lumMod val="95000"/>
                  </a:schemeClr>
                </a:solidFill>
              </a:rPr>
              <a:t>facebook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DC4951-C9CE-9892-DAF3-6429479E4358}"/>
              </a:ext>
            </a:extLst>
          </p:cNvPr>
          <p:cNvSpPr txBox="1"/>
          <p:nvPr/>
        </p:nvSpPr>
        <p:spPr>
          <a:xfrm>
            <a:off x="10766491" y="6376993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Twitter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82E279-275F-54D9-60A7-83E5E5A961EB}"/>
              </a:ext>
            </a:extLst>
          </p:cNvPr>
          <p:cNvSpPr txBox="1"/>
          <p:nvPr/>
        </p:nvSpPr>
        <p:spPr>
          <a:xfrm>
            <a:off x="111320" y="6352715"/>
            <a:ext cx="138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Useful Links:</a:t>
            </a:r>
          </a:p>
        </p:txBody>
      </p:sp>
    </p:spTree>
    <p:extLst>
      <p:ext uri="{BB962C8B-B14F-4D97-AF65-F5344CB8AC3E}">
        <p14:creationId xmlns:p14="http://schemas.microsoft.com/office/powerpoint/2010/main" val="4150734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601</Words>
  <Application>Microsoft Office PowerPoint</Application>
  <PresentationFormat>Widescreen</PresentationFormat>
  <Paragraphs>178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Arnulfo Ninal</dc:creator>
  <cp:lastModifiedBy>Arnulfo Ninal</cp:lastModifiedBy>
  <cp:revision>1</cp:revision>
  <dcterms:created xsi:type="dcterms:W3CDTF">2026-01-18T00:19:28Z</dcterms:created>
  <dcterms:modified xsi:type="dcterms:W3CDTF">2026-01-19T02:39:29Z</dcterms:modified>
</cp:coreProperties>
</file>